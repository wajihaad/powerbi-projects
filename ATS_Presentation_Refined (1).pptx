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Recruitment Manager and stakeholders. Frame this as an executive overview: the business problem, the AI solution, how it works, and the cost — before moving into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business problem before introducing the solution. The 2–3 hour figure for 10 CVs is a useful anchor for the ROI story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pivot slide from problem to solution. Keep it business-value focused — technical detail comes on the following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stages left to right. Emphasize that scoring is deterministic, not left to the AI's discretion — this reassures a non-technical audience about consistency and auditability.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high-level for a non-technical RM audience: three databases feed a single AI-powered evaluation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separation of concerns: Gemini extracts and understands unstructured resume content; a deterministic engine — not the AI — turns that into the final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why AI parsing was considered at all (rule-based extraction failures from the API proposal document), then shows the full platform cost comparison across all three deployment phases — the basis for recommending Gemini 2.5 Flash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deterministic, auditable nature of the score — this is often the RM's biggest concern about 'AI making hiring decisions.' Weights are not disclosed as fixed percentages since they are configurable business rules maintained by the technical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recaps the cost comparison from the previous slide and adds the qualitative reasoning (JSON structure, speed, scalability) behind the final platform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Reiterate: no license fee, cost scales linearly with volume, and the figure is grounded in the ATS's actual per-resume token usage rather than a generic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benefit back to something already shown: the 2–3 hour figure, the deterministic scoring engine, and the ~PKR 3/resume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these as the next phases, not commitments with dates yet — useful for fielding 'what's next' questions from the 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transitioning directly into the live demo / audio walkthrough of the ATS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CADC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5" name="Image 0" descr="icons/FaRobo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131570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APPLICANT TRACKING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 &amp; Deployment Proposal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recruitment-manager briefing on how the AI-powered ATS replaces manual resume screening with consistent, Gemini-driven evaluation — at a fraction of the cost.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5257800"/>
            <a:ext cx="29260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440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Parvez Sajjad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7790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Wajiha Adnan, Sarisa Parvez, Iqra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172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 Institute of Urology and Transplantation (SIUT)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Resume Screening Is Slowing Recruitment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today review every application by hand — a process that is slow, inconsistent, and increasingly difficult to sustain as applicant volumes grow.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4905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900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Reviews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just 10 resumes can take a recruiter 2–3 hours, depending on role complexity.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69664" y="21488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98264" y="237744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1" descr="icons/FaRand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21" y="249059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98264" y="29900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98264" y="33375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varies by reviewer and by mood — the same resume can score differently on different days.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790688" y="21488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19288" y="237744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7" name="Image 2" descr="icons/Fa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445" y="249059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19288" y="2990088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Workload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019288" y="333756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 consumes hours that could be spent interviewing and engaging top candidates.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187952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416552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2" name="Image 3" descr="icons/FaBalanceScaleRigh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529709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Compare Fairly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537667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candidates side-by-side against a job description is hard to do consistently at volume.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169664" y="4187952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398264" y="4416552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7" name="Image 4" descr="icons/FaExclamationTriang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421" y="4529709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398264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Overlooking Talent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398264" y="537667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applicants can be missed simply due to reviewer fatigue or time pressure.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90688" y="4187952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019288" y="4416552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2" name="Image 5" descr="icons/FaFileA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445" y="4529709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019288" y="502920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CV Formats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019288" y="5376672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differ wildly in structure, making rule-based or manual extraction unreliable.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AI-Powered 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Applicant Tracking System that uses Google Gemini to read, understand, and evaluate every resume the way a skilled recruiter would — automatically, consistently, and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6" name="Image 0" descr="icons/FaClipboard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282961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27249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candidate ranking with a transparent ATS score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10128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9" name="Image 1" descr="icons/FaBullsey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3396539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Skill, experience and education matching against the job description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77056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2" descr="icons/FaExclamationTriang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3963467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8587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Strengths, weaknesses and missing-skill analysis for every candidate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443984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5" name="Image 3" descr="icons/FaChartB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1" y="4530395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44256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Excel reports recruiters can share with hiring managers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360920" y="1417320"/>
            <a:ext cx="4251960" cy="4480560"/>
          </a:xfrm>
          <a:prstGeom prst="roundRect">
            <a:avLst>
              <a:gd name="adj" fmla="val 2151"/>
            </a:avLst>
          </a:prstGeom>
          <a:solidFill>
            <a:srgbClr val="0B2545"/>
          </a:solidFill>
          <a:ln/>
        </p:spPr>
      </p:sp>
      <p:sp>
        <p:nvSpPr>
          <p:cNvPr id="18" name="Shape 12"/>
          <p:cNvSpPr/>
          <p:nvPr/>
        </p:nvSpPr>
        <p:spPr>
          <a:xfrm>
            <a:off x="7699248" y="178308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9" name="Image 4" descr="icons/FaRobo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3266" y="1927098"/>
            <a:ext cx="352044" cy="3520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99248" y="2606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hours to minutes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7699248" y="32918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ATS compares every candidate against the job description automatically — collecting, organizing, screening and evaluating resumes without manual sorting.</a:t>
            </a:r>
            <a:endParaRPr lang="en-US" sz="1200" dirty="0"/>
          </a:p>
        </p:txBody>
      </p:sp>
      <p:sp>
        <p:nvSpPr>
          <p:cNvPr id="22" name="Shape 15"/>
          <p:cNvSpPr/>
          <p:nvPr/>
        </p:nvSpPr>
        <p:spPr>
          <a:xfrm>
            <a:off x="7699248" y="4572000"/>
            <a:ext cx="3566160" cy="0"/>
          </a:xfrm>
          <a:prstGeom prst="line">
            <a:avLst/>
          </a:prstGeom>
          <a:noFill/>
          <a:ln w="12700">
            <a:solidFill>
              <a:srgbClr val="1E5AA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699248" y="47091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 min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7699248" y="53035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initial evaluation of an uploaded resume batch, vs. 2–3 hours manually for just 10 CVs.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ATS Works —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six-stage pipeline takes a resume from upload to a ranked recommendation on the recruiter's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76272" y="3410712"/>
            <a:ext cx="16825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2514600"/>
            <a:ext cx="822960" cy="82296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File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2720340"/>
            <a:ext cx="41148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36192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6192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uploads one or many resumes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72154" y="3410712"/>
            <a:ext cx="16825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6858" y="25146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1" descr="icons/FaFile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598" y="272034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32074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32074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207362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207362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extracts structured candidate data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768035" y="3410712"/>
            <a:ext cx="16825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42739" y="2514600"/>
            <a:ext cx="822960" cy="82296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1" name="Image 2" descr="icons/FaRobo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79" y="2720340"/>
            <a:ext cx="411480" cy="41148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27955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7955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003243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Evaluation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003243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candidate against the JD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563917" y="3410712"/>
            <a:ext cx="16825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338621" y="25146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8" name="Image 3" descr="icons/FaCalculato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361" y="2720340"/>
            <a:ext cx="411480" cy="4114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923837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923837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799125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ATS Scoring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799125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 computes the ATS score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9359798" y="3410712"/>
            <a:ext cx="16825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34502" y="2514600"/>
            <a:ext cx="822960" cy="82296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5" name="Image 4" descr="icons/FaSortAmountDow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242" y="2720340"/>
            <a:ext cx="411480" cy="41148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719718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8719718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595006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7595006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ordered by suitability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9930384" y="2514600"/>
            <a:ext cx="822960" cy="8229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41" name="Image 5" descr="icons/FaDeskto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124" y="2720340"/>
            <a:ext cx="411480" cy="411480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10515600" y="2423160"/>
            <a:ext cx="292608" cy="29260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1051560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9390888" y="34747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9390888" y="3959352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results, reports &amp; insights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48640" y="534924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/>
        </p:spPr>
      </p:sp>
      <p:sp>
        <p:nvSpPr>
          <p:cNvPr id="47" name="Text 39"/>
          <p:cNvSpPr/>
          <p:nvPr/>
        </p:nvSpPr>
        <p:spPr>
          <a:xfrm>
            <a:off x="822960" y="5349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performs extraction and evaluation only. The final ATS score is calculated by a deterministic scoring engine, not the language model — see Slide 8.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ATS is built around three core databases and a Gemini-powered evaluation engine that connects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4F9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237744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Fil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25374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Database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uploaded candidate resumes for processing and evaluation.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69080" y="21488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4F9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49240" y="237744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1" descr="icons/FaClipboard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26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Database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9768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job descriptions so they can be reused across future recruitment cycles.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589520" y="2148840"/>
            <a:ext cx="3200400" cy="1920240"/>
          </a:xfrm>
          <a:prstGeom prst="roundRect">
            <a:avLst>
              <a:gd name="adj" fmla="val 3810"/>
            </a:avLst>
          </a:prstGeom>
          <a:solidFill>
            <a:srgbClr val="F4F9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869680" y="2377440"/>
            <a:ext cx="640080" cy="64008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7" name="Image 2" descr="icons/FaChartB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25374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Evaluation Database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818120" y="35021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candidate rankings, ATS scores, and historical screening results.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148840" y="4069080"/>
            <a:ext cx="0" cy="320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669280" y="4069080"/>
            <a:ext cx="0" cy="320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89720" y="4069080"/>
            <a:ext cx="0" cy="32004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4389120"/>
            <a:ext cx="10241280" cy="1234440"/>
          </a:xfrm>
          <a:prstGeom prst="roundRect">
            <a:avLst>
              <a:gd name="adj" fmla="val 7407"/>
            </a:avLst>
          </a:prstGeom>
          <a:solidFill>
            <a:srgbClr val="0B2545"/>
          </a:solidFill>
          <a:ln/>
        </p:spPr>
      </p:sp>
      <p:sp>
        <p:nvSpPr>
          <p:cNvPr id="24" name="Shape 19"/>
          <p:cNvSpPr/>
          <p:nvPr/>
        </p:nvSpPr>
        <p:spPr>
          <a:xfrm>
            <a:off x="914400" y="4690872"/>
            <a:ext cx="658368" cy="65836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5" name="Image 3" descr="icons/FaRobo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4839005"/>
            <a:ext cx="362102" cy="3621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783080" y="45537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Evaluation Engine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783080" y="491947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job description and every resume, extracts structured data, and passes results to the deterministic scoring engine for ranking.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Resume Is Evaluated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happens in three conceptual stages — extraction, scoring, and ranking — each with a clearly defined 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64992" cy="3200400"/>
          </a:xfrm>
          <a:prstGeom prst="roundRect">
            <a:avLst>
              <a:gd name="adj" fmla="val 2286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23160"/>
            <a:ext cx="594360" cy="59436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556891"/>
            <a:ext cx="326898" cy="32689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Gemini AI Extraction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reads the resume and the job description, extracting skills, experience, education, certifications and requirements into structured data.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374904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69664" y="2148840"/>
            <a:ext cx="3364992" cy="3200400"/>
          </a:xfrm>
          <a:prstGeom prst="roundRect">
            <a:avLst>
              <a:gd name="adj" fmla="val 2286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43984" y="2423160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3" name="Image 1" descr="icons/FaCalcula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715" y="2556891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43984" y="31546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Deterministic ATS Scoring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43984" y="3685032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rules-based scoring engine — not the AI — applies weighted categories to the extracted data and computes a consistent, repeatable ATS score out of 100.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552944" y="3749040"/>
            <a:ext cx="21945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90688" y="2148840"/>
            <a:ext cx="3364992" cy="3200400"/>
          </a:xfrm>
          <a:prstGeom prst="roundRect">
            <a:avLst>
              <a:gd name="adj" fmla="val 2286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65008" y="24231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2" descr="icons/FaSortAmountDow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739" y="2556891"/>
            <a:ext cx="326898" cy="3268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65008" y="315468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Candidate Ranking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65008" y="3685032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ranked by ATS score, with strengths, weaknesses and missing skills surfaced for recruiter review.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CASE FOR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Parsing Breaks Down at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selecting a platform, we evaluated why traditional, rule-based resume parsing was no longer sufficient for SIUT's CV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64992" cy="1234440"/>
          </a:xfrm>
          <a:prstGeom prst="roundRect">
            <a:avLst>
              <a:gd name="adj" fmla="val 5926"/>
            </a:avLst>
          </a:prstGeom>
          <a:solidFill>
            <a:srgbClr val="F4F9F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38912" cy="438912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Fil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2156155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Resume Structure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25328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skills, education and contact details appear in different positions across resumes, defeating fixed-field extraction.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69664" y="1874520"/>
            <a:ext cx="3364992" cy="1234440"/>
          </a:xfrm>
          <a:prstGeom prst="roundRect">
            <a:avLst>
              <a:gd name="adj" fmla="val 5926"/>
            </a:avLst>
          </a:prstGeom>
          <a:solidFill>
            <a:srgbClr val="F4F9FE"/>
          </a:solidFill>
          <a:ln/>
        </p:spPr>
      </p:sp>
      <p:sp>
        <p:nvSpPr>
          <p:cNvPr id="11" name="Shape 8"/>
          <p:cNvSpPr/>
          <p:nvPr/>
        </p:nvSpPr>
        <p:spPr>
          <a:xfrm>
            <a:off x="4352544" y="2057400"/>
            <a:ext cx="438912" cy="438912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1" descr="icons/FaCalculato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2156155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01184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Miscalculated Experience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352544" y="25328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Multi-employer experience (e.g. 4 yrs 4 mo + 2 yrs 1 mo) can be misread as “4421” instead of the correct 6 years 5 months.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790688" y="1874520"/>
            <a:ext cx="3364992" cy="1234440"/>
          </a:xfrm>
          <a:prstGeom prst="roundRect">
            <a:avLst>
              <a:gd name="adj" fmla="val 5926"/>
            </a:avLst>
          </a:prstGeom>
          <a:solidFill>
            <a:srgbClr val="F4F9FE"/>
          </a:solidFill>
          <a:ln/>
        </p:spPr>
      </p:sp>
      <p:sp>
        <p:nvSpPr>
          <p:cNvPr id="16" name="Shape 12"/>
          <p:cNvSpPr/>
          <p:nvPr/>
        </p:nvSpPr>
        <p:spPr>
          <a:xfrm>
            <a:off x="7973568" y="2057400"/>
            <a:ext cx="438912" cy="438912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7" name="Image 2" descr="icons/FaExclamationTriang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323" y="2156155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22208" y="202082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at Scale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973568" y="25328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thousands of resumes in inconsistent formats and writing styles, rule-based extraction becomes unreliable and error-prone.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8640" y="32735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led us to compare three leading AI platforms for context-aware resume parsing and evaluation — by deployment phase: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363931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Testing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13632"/>
          <a:ext cx="3319272" cy="1188720"/>
        </p:xfrm>
        <a:graphic>
          <a:graphicData uri="http://schemas.openxmlformats.org/drawingml/2006/table">
            <a:tbl>
              <a:tblPr/>
              <a:tblGrid>
                <a:gridCol w="1399032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1,500–3,000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18,000–36,000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Mini / GPT-4o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4,000–7,000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48,000–84,000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7,000–12,000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84,000–144,000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7"/>
          <p:cNvSpPr/>
          <p:nvPr/>
        </p:nvSpPr>
        <p:spPr>
          <a:xfrm>
            <a:off x="4050792" y="363931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Deployment</a:t>
            </a:r>
            <a:endParaRPr lang="en-US" sz="11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50792" y="3913632"/>
          <a:ext cx="3319272" cy="1188720"/>
        </p:xfrm>
        <a:graphic>
          <a:graphicData uri="http://schemas.openxmlformats.org/drawingml/2006/table">
            <a:tbl>
              <a:tblPr/>
              <a:tblGrid>
                <a:gridCol w="1399032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3,000–6,000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36,000–72,000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Mini / GPT-4o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7,000–15,000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84,000–180,000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12,000–25,000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144,000–300,000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8"/>
          <p:cNvSpPr/>
          <p:nvPr/>
        </p:nvSpPr>
        <p:spPr>
          <a:xfrm>
            <a:off x="7552944" y="363931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Usage</a:t>
            </a:r>
            <a:endParaRPr lang="en-US" sz="11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52944" y="3913632"/>
          <a:ext cx="3319272" cy="1188720"/>
        </p:xfrm>
        <a:graphic>
          <a:graphicData uri="http://schemas.openxmlformats.org/drawingml/2006/table">
            <a:tbl>
              <a:tblPr/>
              <a:tblGrid>
                <a:gridCol w="1399032"/>
                <a:gridCol w="960120"/>
                <a:gridCol w="960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7,000–15,000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b="1" dirty="0">
                          <a:solidFill>
                            <a:srgbClr val="1F8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84,000–180,000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Mini / GPT-4o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15,000–30,000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180,000–360,000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25,000–50,000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300,000–600,000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19"/>
          <p:cNvSpPr/>
          <p:nvPr/>
        </p:nvSpPr>
        <p:spPr>
          <a:xfrm>
            <a:off x="548640" y="525780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/>
        </p:spPr>
      </p:sp>
      <p:sp>
        <p:nvSpPr>
          <p:cNvPr id="28" name="Text 20"/>
          <p:cNvSpPr/>
          <p:nvPr/>
        </p:nvSpPr>
        <p:spPr>
          <a:xfrm>
            <a:off x="822960" y="52578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is the lowest-cost option at every phase — development, MVP and high usage — directly informing the platform recommendation on the following slides.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SCORING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Scoring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scored out of 100 across four weighted categories. The scoring engine — not the language model — calculates the final ATS score, keeping results consistent and auditable.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2487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61061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546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Match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345643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and preferred skills present in the resume vs. the job description.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36976" y="22860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</p:spPr>
      </p:sp>
      <p:sp>
        <p:nvSpPr>
          <p:cNvPr id="11" name="Shape 8"/>
          <p:cNvSpPr/>
          <p:nvPr/>
        </p:nvSpPr>
        <p:spPr>
          <a:xfrm>
            <a:off x="4206240" y="2487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1" descr="icons/FaUser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261061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74136" y="31546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Match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345643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and relevance of professional experience against role requirements.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25312" y="22860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</p:spPr>
      </p:sp>
      <p:sp>
        <p:nvSpPr>
          <p:cNvPr id="16" name="Shape 12"/>
          <p:cNvSpPr/>
          <p:nvPr/>
        </p:nvSpPr>
        <p:spPr>
          <a:xfrm>
            <a:off x="6894576" y="2487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7" name="Image 2" descr="icons/FaGraduationC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020" y="261061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62472" y="31546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Match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089904" y="345643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Degrees, certifications and qualifications relevant to the role.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8613648" y="2286000"/>
            <a:ext cx="2487168" cy="1737360"/>
          </a:xfrm>
          <a:prstGeom prst="roundRect">
            <a:avLst>
              <a:gd name="adj" fmla="val 4211"/>
            </a:avLst>
          </a:prstGeom>
          <a:solidFill>
            <a:srgbClr val="EAF2FB"/>
          </a:solidFill>
          <a:ln/>
        </p:spPr>
      </p:sp>
      <p:sp>
        <p:nvSpPr>
          <p:cNvPr id="21" name="Shape 16"/>
          <p:cNvSpPr/>
          <p:nvPr/>
        </p:nvSpPr>
        <p:spPr>
          <a:xfrm>
            <a:off x="9582912" y="2487168"/>
            <a:ext cx="548640" cy="54864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2" name="Image 3" descr="icons/FaFile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6356" y="261061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50808" y="315468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Match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778240" y="3456432"/>
            <a:ext cx="21579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terminology and requirements found in the resume.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4251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 =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5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(Skills)  +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5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(Experience)  +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5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(Education)  +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buNone/>
            </a:pPr>
            <a:r>
              <a:rPr lang="en-US" sz="1500" i="1" baseline="-4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(Keywords)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296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weights are configurable business rules, maintained by the technical team as hiring priorities evolve.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48640" y="53492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control: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can also set a minimum ATS score threshold (e.g. 50%, 60%, 70%) and filter by recommendation — Strong Hire, Hire, or No Hire.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Gemini 2.5 Flash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was selected after evaluating reasoning quality, output structure, speed and cost against GPT and Claude alternatives.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6" name="Image 0" descr="icons/FaBrai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22352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reasoning for structured HR evaluations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94760" y="2148840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9" name="Image 1" descr="icons/FaFile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71" y="2235251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97680" y="21214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Excellent, reliable structured JSON output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2" descr="icons/FaBo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2875331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recruiter workflows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794760" y="2788920"/>
            <a:ext cx="384048" cy="384048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5" name="Image 3" descr="icons/Fa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171" y="2875331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97680" y="276148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cleanly from pilot to thousands of resumes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3611880"/>
            <a:ext cx="6400800" cy="2423160"/>
          </a:xfrm>
          <a:prstGeom prst="roundRect">
            <a:avLst>
              <a:gd name="adj" fmla="val 3019"/>
            </a:avLst>
          </a:prstGeom>
          <a:solidFill>
            <a:srgbClr val="F4F9FE"/>
          </a:solidFill>
          <a:ln/>
        </p:spPr>
      </p:sp>
      <p:sp>
        <p:nvSpPr>
          <p:cNvPr id="18" name="Text 12"/>
          <p:cNvSpPr/>
          <p:nvPr/>
        </p:nvSpPr>
        <p:spPr>
          <a:xfrm>
            <a:off x="822960" y="38130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Held Up Across All Three Platforms Compared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22960" y="41788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shown on the previous slide, Gemini 2.5 Flash was the lowest-cost platform among Gemini, OpenAI GPT and Claude at every deployment phase evaluated: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22960" y="4782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Deployment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566160" y="47823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3,000–6,000 / mo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22960" y="52395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GPT / Claude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566160" y="5239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7,000–25,000 / mo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56967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phase-by-phase comparison: previous slide.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269480" y="36118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0B2545"/>
          </a:solidFill>
          <a:ln/>
        </p:spPr>
      </p:sp>
      <p:sp>
        <p:nvSpPr>
          <p:cNvPr id="26" name="Text 20"/>
          <p:cNvSpPr/>
          <p:nvPr/>
        </p:nvSpPr>
        <p:spPr>
          <a:xfrm>
            <a:off x="7498080" y="37947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498080" y="41605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offers the strongest balance of reasoning quality, structured output and cost for high-volume resume evaluation — the recommended platform for the ATS.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Pricing Proposal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—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fixed annual or monthly licensing fee. The organization only pays for the text the AI actually processes, and the cost scales automatically with hiring volume.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160520" cy="2148840"/>
          </a:xfrm>
          <a:prstGeom prst="roundRect">
            <a:avLst>
              <a:gd name="adj" fmla="val 3404"/>
            </a:avLst>
          </a:prstGeom>
          <a:solidFill>
            <a:srgbClr val="F4F9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Fil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49059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per Resume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+ JD + prompt (input)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11880" y="28803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8,500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32644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evaluation (output)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11880" y="3264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3,500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22960" y="36484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candidate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11880" y="36484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12,000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92040" y="2148840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0B2545"/>
          </a:solidFill>
          <a:ln/>
        </p:spPr>
      </p:sp>
      <p:sp>
        <p:nvSpPr>
          <p:cNvPr id="16" name="Text 13"/>
          <p:cNvSpPr/>
          <p:nvPr/>
        </p:nvSpPr>
        <p:spPr>
          <a:xfrm>
            <a:off x="51206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Resume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12064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$0.0113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12064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PKR 3 per candidate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· pay-as-you-go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26680" y="214884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EAF2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23317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$11.30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95528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screen 1,000 resumes (≈ PKR 3,200)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55280" y="3337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full extraction, scoring and ranking for every candidate in the batch.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by Recruitment Volume  (USD @ PKR 285/USD)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0607040" cy="123444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  <a:gridCol w="1767840"/>
                <a:gridCol w="1767840"/>
                <a:gridCol w="17678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5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PKR (approx.)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5A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E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to the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6" name="Image 0" descr="icons/FaTachometer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89623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Hiring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779776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screening drops from hours to under a minute per batch.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69664" y="1554480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8264" y="17830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icons/Fa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421" y="189623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98264" y="242316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Recruiter Workload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398264" y="2779776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the team to focus on interviews, not manual sorting.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90688" y="1554480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19288" y="1783080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6" name="Image 2" descr="icons/FaBalanceScaleRigh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445" y="189623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19288" y="2423160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Evaluation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19288" y="2779776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resume is judged against the same criteria, every time.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85032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1363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icons/FaClipboard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02678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553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ATS Scoring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91032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auditable scores recruiters can defend.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169664" y="3685032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98264" y="3913632"/>
            <a:ext cx="502920" cy="50292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6" name="Image 4" descr="icons/FaCheckCir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421" y="402678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98264" y="4553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Hiring Decisions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398264" y="491032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and skill-gap analysis surface the strongest fits.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790688" y="3685032"/>
            <a:ext cx="3364992" cy="1874520"/>
          </a:xfrm>
          <a:prstGeom prst="roundRect">
            <a:avLst>
              <a:gd name="adj" fmla="val 3902"/>
            </a:avLst>
          </a:prstGeom>
          <a:solidFill>
            <a:srgbClr val="F4F9FE"/>
          </a:solidFill>
          <a:ln/>
          <a:effectLst>
            <a:outerShdw sx="100000" sy="100000" kx="0" ky="0" algn="bl" rotWithShape="0" blurRad="76200" dist="254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19288" y="391363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1" name="Image 5" descr="icons/FaMoneyBillWav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445" y="402678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19288" y="455371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AI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019288" y="4910328"/>
            <a:ext cx="2907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PKR 3 per resume on a pay-as-you-go model.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ATS is the foundation. These enhancements are planned as the system matures and adoption grows.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7" name="Image 0" descr="icons/FaUserPlu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678" y="245287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Portal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9260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application and status tracking for candidates.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69664" y="214884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2350008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2" name="Image 1" descr="icons/FaCalendar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2452878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46904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70832" y="29260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coordination between recruiters and shortlisted candidates.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0688" y="2148840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91856" y="2350008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17" name="Image 2" descr="icons/FaEnvelopeOpenTex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4726" y="2452878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67928" y="2313432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991856" y="292608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candidate notifications at each stage of the pipeline.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005072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206240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2" name="Image 3" descr="icons/FaChartBa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78" y="430911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41696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49808" y="478231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on hiring funnel performance and time-to-hire.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169664" y="4005072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370832" y="4206240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27" name="Image 4" descr="icons/FaSearchMinu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3702" y="430911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46904" y="41696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370832" y="478231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insights into skill shortages across applicant pools.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90688" y="4005072"/>
            <a:ext cx="3364992" cy="1600200"/>
          </a:xfrm>
          <a:prstGeom prst="roundRect">
            <a:avLst>
              <a:gd name="adj" fmla="val 4571"/>
            </a:avLst>
          </a:prstGeom>
          <a:solidFill>
            <a:srgbClr val="EAF2F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991856" y="4206240"/>
            <a:ext cx="457200" cy="4572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32" name="Image 5" descr="icons/FaDeskto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726" y="430911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67928" y="4169664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Improvements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991856" y="478231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filtering, saved views and richer recruiter reporting.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92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ATS — Executive Overview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28832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E5AA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CADCF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417320"/>
            <a:ext cx="914400" cy="914400"/>
          </a:xfrm>
          <a:prstGeom prst="ellipse">
            <a:avLst/>
          </a:prstGeom>
          <a:solidFill>
            <a:srgbClr val="1E5AA8"/>
          </a:solidFill>
          <a:ln/>
        </p:spPr>
      </p:sp>
      <p:pic>
        <p:nvPicPr>
          <p:cNvPr id="5" name="Image 0" descr="icons/FaHandshak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0388" y="16230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691640" y="36118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 — let's move into a live walkthrough of the ATS.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27448" y="4343400"/>
            <a:ext cx="2743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91640" y="45262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 Institute of Urology and Transplantation (SIUT)  ·  Division of Cardiothoracic Sciences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691640" y="4846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Wajiha Adnan   ·   Sarisa Parvez   ·   Iqra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2026-07-10T06:01:45Z</dcterms:created>
  <dcterms:modified xsi:type="dcterms:W3CDTF">2026-07-10T06:01:45Z</dcterms:modified>
</cp:coreProperties>
</file>